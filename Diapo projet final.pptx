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</p:sldIdLst>
  <p:sldSz cx="14630400" cy="8229600"/>
  <p:notesSz cx="8229600" cy="14630400"/>
  <p:embeddedFontLst>
    <p:embeddedFont>
      <p:font typeface="Open Sans" panose="020B0606030504020204" pitchFamily="34" charset="0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71719B-F936-A9F1-F8FA-40CDCA460A3C}" v="2" dt="2026-02-12T15:37:52.495"/>
    <p1510:client id="{BE9B310E-E9E0-751D-CE0B-A832D2CEB5BE}" v="523" dt="2026-02-13T10:42:07.3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BD4FA1-B6F9-4434-A247-840E60798536}" type="datetimeFigureOut">
              <a:t>2/13/2026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3933A4-E6EE-464F-8FAF-352E9D10244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347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6401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Système de Décision Algorithmique GBP/USD</a:t>
            </a:r>
            <a:endParaRPr lang="en-US" sz="4450"/>
          </a:p>
        </p:txBody>
      </p:sp>
      <p:sp>
        <p:nvSpPr>
          <p:cNvPr id="4" name="Text 1"/>
          <p:cNvSpPr/>
          <p:nvPr/>
        </p:nvSpPr>
        <p:spPr>
          <a:xfrm>
            <a:off x="793790" y="432173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De la donnée brute à l'API industrialisée</a:t>
            </a:r>
            <a:endParaRPr lang="en-US" sz="1750">
              <a:latin typeface="Calibri"/>
              <a:ea typeface="Calibri"/>
              <a:cs typeface="Calibri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4939784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Master 2 Data Science – Février 2026</a:t>
            </a:r>
            <a:endParaRPr lang="en-US" sz="175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Peter Broussaud - Matéo Guillard</a:t>
            </a:r>
            <a:endParaRPr lang="en-US" sz="17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37103"/>
            <a:ext cx="936308" cy="317778"/>
          </a:xfrm>
          <a:prstGeom prst="roundRect">
            <a:avLst>
              <a:gd name="adj" fmla="val 19187"/>
            </a:avLst>
          </a:prstGeom>
          <a:solidFill>
            <a:srgbClr val="EBE2E0"/>
          </a:solidFill>
          <a:ln/>
        </p:spPr>
      </p:sp>
      <p:sp>
        <p:nvSpPr>
          <p:cNvPr id="3" name="Text 1"/>
          <p:cNvSpPr/>
          <p:nvPr/>
        </p:nvSpPr>
        <p:spPr>
          <a:xfrm>
            <a:off x="902613" y="691515"/>
            <a:ext cx="718661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CONTEXTE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793790" y="1012865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Pourquoi ce projet ?</a:t>
            </a:r>
            <a:endParaRPr lang="en-US" sz="355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6037" y="1960721"/>
            <a:ext cx="6658213" cy="37729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727667" y="2052398"/>
            <a:ext cx="5517278" cy="1096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2000" b="1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Objectif :</a:t>
            </a:r>
            <a:r>
              <a:rPr lang="en-US" sz="200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000" err="1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Construire</a:t>
            </a:r>
            <a:r>
              <a:rPr lang="en-US" sz="200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 un </a:t>
            </a:r>
            <a:r>
              <a:rPr lang="en-US" sz="2000" err="1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système</a:t>
            </a:r>
            <a:r>
              <a:rPr lang="en-US" sz="200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 de </a:t>
            </a:r>
            <a:r>
              <a:rPr lang="en-US" sz="2000" err="1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décision</a:t>
            </a:r>
            <a:r>
              <a:rPr lang="en-US" sz="200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 de trading</a:t>
            </a:r>
          </a:p>
        </p:txBody>
      </p:sp>
      <p:sp>
        <p:nvSpPr>
          <p:cNvPr id="7" name="Shape 4"/>
          <p:cNvSpPr/>
          <p:nvPr/>
        </p:nvSpPr>
        <p:spPr>
          <a:xfrm>
            <a:off x="793790" y="6060162"/>
            <a:ext cx="4250769" cy="1532334"/>
          </a:xfrm>
          <a:prstGeom prst="roundRect">
            <a:avLst>
              <a:gd name="adj" fmla="val 4974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82861" y="6249233"/>
            <a:ext cx="2554367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Marchés non stationnaires</a:t>
            </a:r>
            <a:endParaRPr lang="en-US" sz="1750"/>
          </a:p>
        </p:txBody>
      </p:sp>
      <p:sp>
        <p:nvSpPr>
          <p:cNvPr id="9" name="Text 6"/>
          <p:cNvSpPr/>
          <p:nvPr/>
        </p:nvSpPr>
        <p:spPr>
          <a:xfrm>
            <a:off x="982861" y="6619756"/>
            <a:ext cx="3872627" cy="783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Les dynamiques financières évoluent constamment, rendant les modèles statiques rapidement obsolètes</a:t>
            </a:r>
            <a:endParaRPr lang="en-US" sz="1400"/>
          </a:p>
        </p:txBody>
      </p:sp>
      <p:sp>
        <p:nvSpPr>
          <p:cNvPr id="10" name="Shape 7"/>
          <p:cNvSpPr/>
          <p:nvPr/>
        </p:nvSpPr>
        <p:spPr>
          <a:xfrm>
            <a:off x="5189696" y="6060162"/>
            <a:ext cx="4250888" cy="1532334"/>
          </a:xfrm>
          <a:prstGeom prst="roundRect">
            <a:avLst>
              <a:gd name="adj" fmla="val 4974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78768" y="6249233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Coûts réels</a:t>
            </a:r>
            <a:endParaRPr lang="en-US" sz="1750"/>
          </a:p>
        </p:txBody>
      </p:sp>
      <p:sp>
        <p:nvSpPr>
          <p:cNvPr id="12" name="Text 9"/>
          <p:cNvSpPr/>
          <p:nvPr/>
        </p:nvSpPr>
        <p:spPr>
          <a:xfrm>
            <a:off x="5378768" y="6619756"/>
            <a:ext cx="3872746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Spreads, commissions et slippage impactent significativement la rentabilité effective</a:t>
            </a:r>
            <a:endParaRPr lang="en-US" sz="1400"/>
          </a:p>
        </p:txBody>
      </p:sp>
      <p:sp>
        <p:nvSpPr>
          <p:cNvPr id="13" name="Shape 10"/>
          <p:cNvSpPr/>
          <p:nvPr/>
        </p:nvSpPr>
        <p:spPr>
          <a:xfrm>
            <a:off x="9585722" y="6060162"/>
            <a:ext cx="4250888" cy="1532334"/>
          </a:xfrm>
          <a:prstGeom prst="roundRect">
            <a:avLst>
              <a:gd name="adj" fmla="val 4974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774793" y="6249233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Risque d'overfitting</a:t>
            </a:r>
            <a:endParaRPr lang="en-US" sz="1750"/>
          </a:p>
        </p:txBody>
      </p:sp>
      <p:sp>
        <p:nvSpPr>
          <p:cNvPr id="15" name="Text 12"/>
          <p:cNvSpPr/>
          <p:nvPr/>
        </p:nvSpPr>
        <p:spPr>
          <a:xfrm>
            <a:off x="9774793" y="6619756"/>
            <a:ext cx="3872746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sur-adaptation aux données historiques compromet la généralisation future</a:t>
            </a:r>
            <a:endParaRPr lang="en-US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120259"/>
            <a:ext cx="1661636" cy="397907"/>
          </a:xfrm>
          <a:prstGeom prst="roundRect">
            <a:avLst>
              <a:gd name="adj" fmla="val 18196"/>
            </a:avLst>
          </a:prstGeom>
          <a:solidFill>
            <a:srgbClr val="EBE2E0"/>
          </a:solidFill>
          <a:ln/>
        </p:spPr>
      </p:sp>
      <p:sp>
        <p:nvSpPr>
          <p:cNvPr id="3" name="Text 1"/>
          <p:cNvSpPr/>
          <p:nvPr/>
        </p:nvSpPr>
        <p:spPr>
          <a:xfrm>
            <a:off x="922972" y="1184791"/>
            <a:ext cx="1403271" cy="26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PROBLÉMATIQUE</a:t>
            </a:r>
            <a:endParaRPr lang="en-US" sz="1350"/>
          </a:p>
        </p:txBody>
      </p:sp>
      <p:sp>
        <p:nvSpPr>
          <p:cNvPr id="4" name="Text 2"/>
          <p:cNvSpPr/>
          <p:nvPr/>
        </p:nvSpPr>
        <p:spPr>
          <a:xfrm>
            <a:off x="793790" y="1599962"/>
            <a:ext cx="5387102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b="1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Problème métier</a:t>
            </a:r>
            <a:endParaRPr lang="en-US" sz="4200"/>
          </a:p>
        </p:txBody>
      </p:sp>
      <p:sp>
        <p:nvSpPr>
          <p:cNvPr id="5" name="Shape 3"/>
          <p:cNvSpPr/>
          <p:nvPr/>
        </p:nvSpPr>
        <p:spPr>
          <a:xfrm>
            <a:off x="638532" y="2580442"/>
            <a:ext cx="6569035" cy="4528899"/>
          </a:xfrm>
          <a:prstGeom prst="roundRect">
            <a:avLst>
              <a:gd name="adj" fmla="val 3426"/>
            </a:avLst>
          </a:prstGeom>
          <a:solidFill>
            <a:srgbClr val="835E54"/>
          </a:solidFill>
          <a:ln/>
        </p:spPr>
      </p:sp>
      <p:sp>
        <p:nvSpPr>
          <p:cNvPr id="6" name="Text 4"/>
          <p:cNvSpPr/>
          <p:nvPr/>
        </p:nvSpPr>
        <p:spPr>
          <a:xfrm>
            <a:off x="853916" y="2785110"/>
            <a:ext cx="4084082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b="1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Décision toutes les 15 minutes</a:t>
            </a:r>
            <a:endParaRPr lang="en-US" sz="2500"/>
          </a:p>
        </p:txBody>
      </p:sp>
      <p:sp>
        <p:nvSpPr>
          <p:cNvPr id="7" name="Text 5"/>
          <p:cNvSpPr/>
          <p:nvPr/>
        </p:nvSpPr>
        <p:spPr>
          <a:xfrm>
            <a:off x="853916" y="3393758"/>
            <a:ext cx="6138267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BUY / SELL / HOLD</a:t>
            </a:r>
            <a:endParaRPr lang="en-US" sz="1650"/>
          </a:p>
        </p:txBody>
      </p:sp>
      <p:sp>
        <p:nvSpPr>
          <p:cNvPr id="8" name="Text 6"/>
          <p:cNvSpPr/>
          <p:nvPr/>
        </p:nvSpPr>
        <p:spPr>
          <a:xfrm>
            <a:off x="853916" y="3914061"/>
            <a:ext cx="6138267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endParaRPr lang="en-US" sz="1650" dirty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585710" y="2785110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Objectif d'optimisation</a:t>
            </a:r>
            <a:endParaRPr lang="en-US" sz="2100"/>
          </a:p>
        </p:txBody>
      </p:sp>
      <p:sp>
        <p:nvSpPr>
          <p:cNvPr id="10" name="Text 8"/>
          <p:cNvSpPr/>
          <p:nvPr/>
        </p:nvSpPr>
        <p:spPr>
          <a:xfrm>
            <a:off x="7585710" y="3326368"/>
            <a:ext cx="6258520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Maximiser le profit </a:t>
            </a:r>
            <a:r>
              <a:rPr lang="en-US" sz="1650" dirty="0" err="1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ajusté</a:t>
            </a:r>
            <a:r>
              <a:rPr lang="en-US" sz="165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 au </a:t>
            </a:r>
            <a:r>
              <a:rPr lang="en-US" sz="1650" dirty="0" err="1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risque</a:t>
            </a:r>
            <a:r>
              <a:rPr lang="en-US" sz="165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650" dirty="0" err="1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en</a:t>
            </a:r>
            <a:r>
              <a:rPr lang="en-US" sz="165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650" dirty="0" err="1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intégrant</a:t>
            </a:r>
            <a:r>
              <a:rPr lang="en-US" sz="165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 le ratio de Sharpe et le drawdown maximum</a:t>
            </a:r>
          </a:p>
        </p:txBody>
      </p:sp>
      <p:sp>
        <p:nvSpPr>
          <p:cNvPr id="11" name="Shape 9"/>
          <p:cNvSpPr/>
          <p:nvPr/>
        </p:nvSpPr>
        <p:spPr>
          <a:xfrm>
            <a:off x="7585710" y="4336550"/>
            <a:ext cx="6258520" cy="34528"/>
          </a:xfrm>
          <a:prstGeom prst="rect">
            <a:avLst/>
          </a:prstGeom>
          <a:solidFill>
            <a:srgbClr val="443728">
              <a:alpha val="5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585710" y="4601289"/>
            <a:ext cx="3188970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US" sz="2100" b="1" dirty="0" err="1">
                <a:solidFill>
                  <a:srgbClr val="443728"/>
                </a:solidFill>
                <a:latin typeface="Crimson Pro Bold"/>
                <a:ea typeface="Crimson Pro Bold"/>
                <a:cs typeface="Crimson Pro Bold" pitchFamily="34" charset="-120"/>
              </a:rPr>
              <a:t>Contraintes</a:t>
            </a:r>
            <a:r>
              <a:rPr lang="en-US" sz="2100" b="1" dirty="0">
                <a:solidFill>
                  <a:srgbClr val="443728"/>
                </a:solidFill>
                <a:latin typeface="Crimson Pro Bold"/>
                <a:ea typeface="Crimson Pro Bold"/>
                <a:cs typeface="Crimson Pro Bold" pitchFamily="34" charset="-120"/>
              </a:rPr>
              <a:t> </a:t>
            </a:r>
            <a:r>
              <a:rPr lang="en-US" sz="2100" b="1" dirty="0" err="1">
                <a:solidFill>
                  <a:srgbClr val="443728"/>
                </a:solidFill>
                <a:latin typeface="Crimson Pro Bold"/>
                <a:ea typeface="Crimson Pro Bold"/>
                <a:cs typeface="Crimson Pro Bold" pitchFamily="34" charset="-120"/>
              </a:rPr>
              <a:t>réaliste</a:t>
            </a:r>
            <a:endParaRPr lang="en-US" sz="2100" b="1" dirty="0" err="1">
              <a:solidFill>
                <a:srgbClr val="443728"/>
              </a:solidFill>
              <a:latin typeface="Crimson Pro Bold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585710" y="5142548"/>
            <a:ext cx="6258520" cy="1680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 err="1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Coûts</a:t>
            </a:r>
            <a:r>
              <a:rPr lang="en-US" sz="165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 de transaction</a:t>
            </a:r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Limitation du drawdown </a:t>
            </a:r>
            <a:r>
              <a:rPr lang="en-US" sz="1650" dirty="0" err="1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tolérable</a:t>
            </a:r>
            <a:endParaRPr lang="en-US" sz="1650" dirty="0" err="1">
              <a:latin typeface="Open Sans"/>
              <a:ea typeface="Open Sans"/>
              <a:cs typeface="Open Sans"/>
            </a:endParaRPr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 err="1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Robustesse</a:t>
            </a:r>
            <a:r>
              <a:rPr lang="en-US" sz="165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 inter-</a:t>
            </a:r>
            <a:r>
              <a:rPr lang="en-US" sz="1650" dirty="0" err="1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annuelle</a:t>
            </a:r>
          </a:p>
          <a:p>
            <a:pPr algn="l">
              <a:lnSpc>
                <a:spcPts val="2600"/>
              </a:lnSpc>
              <a:buSzPct val="100000"/>
            </a:pPr>
            <a:endParaRPr lang="en-US" sz="1650" dirty="0">
              <a:solidFill>
                <a:srgbClr val="443728"/>
              </a:solidFill>
              <a:latin typeface="Open Sans"/>
              <a:ea typeface="Open Sans"/>
              <a:cs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1647" y="623649"/>
            <a:ext cx="1086564" cy="266819"/>
          </a:xfrm>
          <a:prstGeom prst="roundRect">
            <a:avLst>
              <a:gd name="adj" fmla="val 19939"/>
            </a:avLst>
          </a:prstGeom>
          <a:solidFill>
            <a:srgbClr val="EBE2E0"/>
          </a:solidFill>
          <a:ln/>
        </p:spPr>
      </p:sp>
      <p:sp>
        <p:nvSpPr>
          <p:cNvPr id="3" name="Text 1"/>
          <p:cNvSpPr/>
          <p:nvPr/>
        </p:nvSpPr>
        <p:spPr>
          <a:xfrm>
            <a:off x="886539" y="671036"/>
            <a:ext cx="896779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5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ARCHITECTURE</a:t>
            </a:r>
            <a:endParaRPr lang="en-US" sz="950"/>
          </a:p>
        </p:txBody>
      </p:sp>
      <p:sp>
        <p:nvSpPr>
          <p:cNvPr id="4" name="Text 2"/>
          <p:cNvSpPr/>
          <p:nvPr/>
        </p:nvSpPr>
        <p:spPr>
          <a:xfrm>
            <a:off x="791647" y="934641"/>
            <a:ext cx="3958471" cy="494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b="1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Pipeline Global</a:t>
            </a:r>
            <a:endParaRPr lang="en-US" sz="310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239" y="2878336"/>
            <a:ext cx="7246144" cy="312991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070365" y="5073852"/>
            <a:ext cx="1075917" cy="195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Agrégation M15</a:t>
            </a:r>
            <a:endParaRPr lang="en-US" sz="1200"/>
          </a:p>
        </p:txBody>
      </p:sp>
      <p:sp>
        <p:nvSpPr>
          <p:cNvPr id="7" name="Text 4"/>
          <p:cNvSpPr/>
          <p:nvPr/>
        </p:nvSpPr>
        <p:spPr>
          <a:xfrm>
            <a:off x="3070365" y="5325549"/>
            <a:ext cx="1075917" cy="399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Resampling et </a:t>
            </a:r>
            <a:r>
              <a:rPr lang="en-US" sz="950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alignement</a:t>
            </a: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950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temporel</a:t>
            </a:r>
            <a:endParaRPr lang="en-US" sz="950" dirty="0" err="1"/>
          </a:p>
        </p:txBody>
      </p:sp>
      <p:sp>
        <p:nvSpPr>
          <p:cNvPr id="8" name="Text 5"/>
          <p:cNvSpPr/>
          <p:nvPr/>
        </p:nvSpPr>
        <p:spPr>
          <a:xfrm>
            <a:off x="5833043" y="5206886"/>
            <a:ext cx="1075918" cy="195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Entraînement</a:t>
            </a:r>
            <a:endParaRPr lang="en-US" sz="1200"/>
          </a:p>
        </p:txBody>
      </p:sp>
      <p:sp>
        <p:nvSpPr>
          <p:cNvPr id="9" name="Text 6"/>
          <p:cNvSpPr/>
          <p:nvPr/>
        </p:nvSpPr>
        <p:spPr>
          <a:xfrm>
            <a:off x="5833043" y="5458583"/>
            <a:ext cx="1075918" cy="266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5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Baselines, ML et RL comparatifs</a:t>
            </a:r>
            <a:endParaRPr lang="en-US" sz="950"/>
          </a:p>
        </p:txBody>
      </p:sp>
      <p:sp>
        <p:nvSpPr>
          <p:cNvPr id="10" name="Text 7"/>
          <p:cNvSpPr/>
          <p:nvPr/>
        </p:nvSpPr>
        <p:spPr>
          <a:xfrm>
            <a:off x="1692455" y="3160760"/>
            <a:ext cx="1075917" cy="195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500"/>
              </a:lnSpc>
            </a:pPr>
            <a:r>
              <a:rPr lang="en-US" sz="1200" b="1" dirty="0">
                <a:solidFill>
                  <a:srgbClr val="443728"/>
                </a:solidFill>
                <a:latin typeface="Crimson Pro Bold"/>
                <a:ea typeface="Crimson Pro Bold"/>
                <a:cs typeface="Crimson Pro Bold" pitchFamily="34" charset="-120"/>
              </a:rPr>
              <a:t>Import M1</a:t>
            </a:r>
            <a:endParaRPr lang="en-US" sz="1200" dirty="0">
              <a:latin typeface="Crimson Pro Bold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692455" y="3412457"/>
            <a:ext cx="1075917" cy="266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5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Récupération des ticks minute</a:t>
            </a:r>
            <a:endParaRPr lang="en-US" sz="950"/>
          </a:p>
        </p:txBody>
      </p:sp>
      <p:sp>
        <p:nvSpPr>
          <p:cNvPr id="12" name="Text 9"/>
          <p:cNvSpPr/>
          <p:nvPr/>
        </p:nvSpPr>
        <p:spPr>
          <a:xfrm>
            <a:off x="7169912" y="3160760"/>
            <a:ext cx="1075917" cy="391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Backtest &amp; Déploiement</a:t>
            </a:r>
            <a:endParaRPr lang="en-US" sz="1200"/>
          </a:p>
        </p:txBody>
      </p:sp>
      <p:sp>
        <p:nvSpPr>
          <p:cNvPr id="13" name="Text 10"/>
          <p:cNvSpPr/>
          <p:nvPr/>
        </p:nvSpPr>
        <p:spPr>
          <a:xfrm>
            <a:off x="7169912" y="3608414"/>
            <a:ext cx="1075917" cy="266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50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Backtest</a:t>
            </a: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2024 </a:t>
            </a:r>
            <a:r>
              <a:rPr lang="en-US" sz="950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puis</a:t>
            </a: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API Docker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468850" y="3160760"/>
            <a:ext cx="1075918" cy="195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Feature Eng.</a:t>
            </a:r>
            <a:endParaRPr lang="en-US" sz="1200"/>
          </a:p>
        </p:txBody>
      </p:sp>
      <p:sp>
        <p:nvSpPr>
          <p:cNvPr id="15" name="Text 12"/>
          <p:cNvSpPr/>
          <p:nvPr/>
        </p:nvSpPr>
        <p:spPr>
          <a:xfrm>
            <a:off x="4468850" y="3412457"/>
            <a:ext cx="1075918" cy="399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5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Extraction d'indicateurs court terme</a:t>
            </a:r>
            <a:endParaRPr lang="en-US" sz="950"/>
          </a:p>
        </p:txBody>
      </p:sp>
      <p:sp>
        <p:nvSpPr>
          <p:cNvPr id="16" name="Text 13"/>
          <p:cNvSpPr/>
          <p:nvPr/>
        </p:nvSpPr>
        <p:spPr>
          <a:xfrm>
            <a:off x="791647" y="6132552"/>
            <a:ext cx="8345329" cy="215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Architecture modulaire permettant l'évolution indépendante de chaque composant du système de décision</a:t>
            </a:r>
            <a:endParaRPr lang="en-US" sz="1200"/>
          </a:p>
        </p:txBody>
      </p:sp>
      <p:sp>
        <p:nvSpPr>
          <p:cNvPr id="17" name="Shape 14"/>
          <p:cNvSpPr/>
          <p:nvPr/>
        </p:nvSpPr>
        <p:spPr>
          <a:xfrm>
            <a:off x="9530834" y="1719501"/>
            <a:ext cx="4315420" cy="1150025"/>
          </a:xfrm>
          <a:prstGeom prst="roundRect">
            <a:avLst>
              <a:gd name="adj" fmla="val 9541"/>
            </a:avLst>
          </a:prstGeom>
          <a:solidFill>
            <a:srgbClr val="FFFCFA"/>
          </a:solidFill>
          <a:ln w="22860">
            <a:solidFill>
              <a:srgbClr val="D1C8C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507974" y="1719501"/>
            <a:ext cx="91440" cy="1150025"/>
          </a:xfrm>
          <a:prstGeom prst="roundRect">
            <a:avLst>
              <a:gd name="adj" fmla="val 72728"/>
            </a:avLst>
          </a:prstGeom>
          <a:solidFill>
            <a:srgbClr val="835E54"/>
          </a:solidFill>
          <a:ln/>
        </p:spPr>
      </p:sp>
      <p:sp>
        <p:nvSpPr>
          <p:cNvPr id="19" name="Text 16"/>
          <p:cNvSpPr/>
          <p:nvPr/>
        </p:nvSpPr>
        <p:spPr>
          <a:xfrm>
            <a:off x="9780508" y="1900595"/>
            <a:ext cx="1979176" cy="247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Ingestion</a:t>
            </a:r>
            <a:endParaRPr lang="en-US" sz="1550"/>
          </a:p>
        </p:txBody>
      </p:sp>
      <p:sp>
        <p:nvSpPr>
          <p:cNvPr id="20" name="Text 17"/>
          <p:cNvSpPr/>
          <p:nvPr/>
        </p:nvSpPr>
        <p:spPr>
          <a:xfrm>
            <a:off x="9780508" y="2258378"/>
            <a:ext cx="3884652" cy="430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Import des données M1 et agrégation vers M15</a:t>
            </a:r>
            <a:endParaRPr lang="en-US" sz="1200" dirty="0">
              <a:latin typeface="Open Sans"/>
              <a:ea typeface="Open Sans"/>
              <a:cs typeface="Open Sans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9530834" y="2980015"/>
            <a:ext cx="4315420" cy="1150025"/>
          </a:xfrm>
          <a:prstGeom prst="roundRect">
            <a:avLst>
              <a:gd name="adj" fmla="val 9541"/>
            </a:avLst>
          </a:prstGeom>
          <a:solidFill>
            <a:srgbClr val="FFFCFA"/>
          </a:solidFill>
          <a:ln w="22860">
            <a:solidFill>
              <a:srgbClr val="D1C8C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507974" y="2980015"/>
            <a:ext cx="91440" cy="1150025"/>
          </a:xfrm>
          <a:prstGeom prst="roundRect">
            <a:avLst>
              <a:gd name="adj" fmla="val 72728"/>
            </a:avLst>
          </a:prstGeom>
          <a:solidFill>
            <a:srgbClr val="835E54"/>
          </a:solidFill>
          <a:ln/>
        </p:spPr>
      </p:sp>
      <p:sp>
        <p:nvSpPr>
          <p:cNvPr id="23" name="Text 20"/>
          <p:cNvSpPr/>
          <p:nvPr/>
        </p:nvSpPr>
        <p:spPr>
          <a:xfrm>
            <a:off x="9780508" y="3161109"/>
            <a:ext cx="1979176" cy="247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Features</a:t>
            </a:r>
            <a:endParaRPr lang="en-US" sz="1550"/>
          </a:p>
        </p:txBody>
      </p:sp>
      <p:sp>
        <p:nvSpPr>
          <p:cNvPr id="24" name="Text 21"/>
          <p:cNvSpPr/>
          <p:nvPr/>
        </p:nvSpPr>
        <p:spPr>
          <a:xfrm>
            <a:off x="9780508" y="3518892"/>
            <a:ext cx="3884652" cy="430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Extraction d'indicateurs court terme et signaux de régime macro</a:t>
            </a:r>
            <a:endParaRPr lang="en-US" sz="1200"/>
          </a:p>
        </p:txBody>
      </p:sp>
      <p:sp>
        <p:nvSpPr>
          <p:cNvPr id="25" name="Shape 22"/>
          <p:cNvSpPr/>
          <p:nvPr/>
        </p:nvSpPr>
        <p:spPr>
          <a:xfrm>
            <a:off x="9530834" y="4240530"/>
            <a:ext cx="4315420" cy="1150025"/>
          </a:xfrm>
          <a:prstGeom prst="roundRect">
            <a:avLst>
              <a:gd name="adj" fmla="val 9541"/>
            </a:avLst>
          </a:prstGeom>
          <a:solidFill>
            <a:srgbClr val="FFFCFA"/>
          </a:solidFill>
          <a:ln w="22860">
            <a:solidFill>
              <a:srgbClr val="D1C8C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507974" y="4240530"/>
            <a:ext cx="91440" cy="1150025"/>
          </a:xfrm>
          <a:prstGeom prst="roundRect">
            <a:avLst>
              <a:gd name="adj" fmla="val 72728"/>
            </a:avLst>
          </a:prstGeom>
          <a:solidFill>
            <a:srgbClr val="835E54"/>
          </a:solidFill>
          <a:ln/>
        </p:spPr>
      </p:sp>
      <p:sp>
        <p:nvSpPr>
          <p:cNvPr id="27" name="Text 24"/>
          <p:cNvSpPr/>
          <p:nvPr/>
        </p:nvSpPr>
        <p:spPr>
          <a:xfrm>
            <a:off x="9780508" y="4421624"/>
            <a:ext cx="1979176" cy="247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Modélisation</a:t>
            </a:r>
            <a:endParaRPr lang="en-US" sz="1550"/>
          </a:p>
        </p:txBody>
      </p:sp>
      <p:sp>
        <p:nvSpPr>
          <p:cNvPr id="28" name="Text 25"/>
          <p:cNvSpPr/>
          <p:nvPr/>
        </p:nvSpPr>
        <p:spPr>
          <a:xfrm>
            <a:off x="9780508" y="4779407"/>
            <a:ext cx="3884652" cy="430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Comparaison baselines, ML supervisé et RL séquentiel</a:t>
            </a:r>
            <a:endParaRPr lang="en-US" sz="1200"/>
          </a:p>
        </p:txBody>
      </p:sp>
      <p:sp>
        <p:nvSpPr>
          <p:cNvPr id="29" name="Shape 26"/>
          <p:cNvSpPr/>
          <p:nvPr/>
        </p:nvSpPr>
        <p:spPr>
          <a:xfrm>
            <a:off x="9530834" y="5501045"/>
            <a:ext cx="4315420" cy="934998"/>
          </a:xfrm>
          <a:prstGeom prst="roundRect">
            <a:avLst>
              <a:gd name="adj" fmla="val 11736"/>
            </a:avLst>
          </a:prstGeom>
          <a:solidFill>
            <a:srgbClr val="FFFCFA"/>
          </a:solidFill>
          <a:ln w="22860">
            <a:solidFill>
              <a:srgbClr val="D1C8C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507974" y="5501045"/>
            <a:ext cx="91440" cy="934998"/>
          </a:xfrm>
          <a:prstGeom prst="roundRect">
            <a:avLst>
              <a:gd name="adj" fmla="val 72728"/>
            </a:avLst>
          </a:prstGeom>
          <a:solidFill>
            <a:srgbClr val="835E54"/>
          </a:solidFill>
          <a:ln/>
        </p:spPr>
      </p:sp>
      <p:sp>
        <p:nvSpPr>
          <p:cNvPr id="31" name="Text 28"/>
          <p:cNvSpPr/>
          <p:nvPr/>
        </p:nvSpPr>
        <p:spPr>
          <a:xfrm>
            <a:off x="9780508" y="5682139"/>
            <a:ext cx="1979176" cy="247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Validation</a:t>
            </a:r>
            <a:endParaRPr lang="en-US" sz="1550"/>
          </a:p>
        </p:txBody>
      </p:sp>
      <p:sp>
        <p:nvSpPr>
          <p:cNvPr id="32" name="Text 29"/>
          <p:cNvSpPr/>
          <p:nvPr/>
        </p:nvSpPr>
        <p:spPr>
          <a:xfrm>
            <a:off x="9780508" y="6039922"/>
            <a:ext cx="3884652" cy="215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Backtest strict sur 2024 jamais vu en entraînement</a:t>
            </a:r>
            <a:endParaRPr lang="en-US" sz="1200"/>
          </a:p>
        </p:txBody>
      </p:sp>
      <p:sp>
        <p:nvSpPr>
          <p:cNvPr id="33" name="Shape 30"/>
          <p:cNvSpPr/>
          <p:nvPr/>
        </p:nvSpPr>
        <p:spPr>
          <a:xfrm>
            <a:off x="9530834" y="6546533"/>
            <a:ext cx="4315420" cy="934998"/>
          </a:xfrm>
          <a:prstGeom prst="roundRect">
            <a:avLst>
              <a:gd name="adj" fmla="val 11736"/>
            </a:avLst>
          </a:prstGeom>
          <a:solidFill>
            <a:srgbClr val="FFFCFA"/>
          </a:solidFill>
          <a:ln w="22860">
            <a:solidFill>
              <a:srgbClr val="D1C8C6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507974" y="6546533"/>
            <a:ext cx="91440" cy="934998"/>
          </a:xfrm>
          <a:prstGeom prst="roundRect">
            <a:avLst>
              <a:gd name="adj" fmla="val 72728"/>
            </a:avLst>
          </a:prstGeom>
          <a:solidFill>
            <a:srgbClr val="835E54"/>
          </a:solidFill>
          <a:ln/>
        </p:spPr>
      </p:sp>
      <p:sp>
        <p:nvSpPr>
          <p:cNvPr id="35" name="Text 32"/>
          <p:cNvSpPr/>
          <p:nvPr/>
        </p:nvSpPr>
        <p:spPr>
          <a:xfrm>
            <a:off x="9780508" y="6727627"/>
            <a:ext cx="1979176" cy="247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Production</a:t>
            </a:r>
            <a:endParaRPr lang="en-US" sz="1550"/>
          </a:p>
        </p:txBody>
      </p:sp>
      <p:sp>
        <p:nvSpPr>
          <p:cNvPr id="36" name="Text 33"/>
          <p:cNvSpPr/>
          <p:nvPr/>
        </p:nvSpPr>
        <p:spPr>
          <a:xfrm>
            <a:off x="9780508" y="7085409"/>
            <a:ext cx="3884652" cy="215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API REST Dockerisée pour déploiement scalable</a:t>
            </a:r>
            <a:endParaRPr lang="en-US"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889992"/>
            <a:ext cx="1191458" cy="268010"/>
          </a:xfrm>
          <a:prstGeom prst="roundRect">
            <a:avLst>
              <a:gd name="adj" fmla="val 19906"/>
            </a:avLst>
          </a:prstGeom>
          <a:solidFill>
            <a:srgbClr val="EBE2E0"/>
          </a:solidFill>
          <a:ln/>
        </p:spPr>
      </p:sp>
      <p:sp>
        <p:nvSpPr>
          <p:cNvPr id="3" name="Text 1"/>
          <p:cNvSpPr/>
          <p:nvPr/>
        </p:nvSpPr>
        <p:spPr>
          <a:xfrm>
            <a:off x="889040" y="937617"/>
            <a:ext cx="1000958" cy="172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0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MÉTHODOLOGIE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793790" y="1202412"/>
            <a:ext cx="440245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Données &amp; Split Temporel</a:t>
            </a:r>
            <a:endParaRPr lang="en-US" sz="310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5137" y="2947868"/>
            <a:ext cx="5839539" cy="330898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675983" y="1990249"/>
            <a:ext cx="22860" cy="4121348"/>
          </a:xfrm>
          <a:prstGeom prst="roundRect">
            <a:avLst>
              <a:gd name="adj" fmla="val 291721"/>
            </a:avLst>
          </a:prstGeom>
          <a:solidFill>
            <a:srgbClr val="D1C8C6"/>
          </a:solidFill>
          <a:ln/>
        </p:spPr>
      </p:sp>
      <p:sp>
        <p:nvSpPr>
          <p:cNvPr id="7" name="Shape 4"/>
          <p:cNvSpPr/>
          <p:nvPr/>
        </p:nvSpPr>
        <p:spPr>
          <a:xfrm>
            <a:off x="11055429" y="2157413"/>
            <a:ext cx="476250" cy="22860"/>
          </a:xfrm>
          <a:prstGeom prst="roundRect">
            <a:avLst>
              <a:gd name="adj" fmla="val 291721"/>
            </a:avLst>
          </a:prstGeom>
          <a:solidFill>
            <a:srgbClr val="D1C8C6"/>
          </a:solidFill>
          <a:ln/>
        </p:spPr>
      </p:sp>
      <p:sp>
        <p:nvSpPr>
          <p:cNvPr id="8" name="Shape 5"/>
          <p:cNvSpPr/>
          <p:nvPr/>
        </p:nvSpPr>
        <p:spPr>
          <a:xfrm>
            <a:off x="11508819" y="1990249"/>
            <a:ext cx="357188" cy="357188"/>
          </a:xfrm>
          <a:prstGeom prst="roundRect">
            <a:avLst>
              <a:gd name="adj" fmla="val 18670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568351" y="2020014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b="1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</a:t>
            </a:r>
            <a:endParaRPr lang="en-US" sz="1850"/>
          </a:p>
        </p:txBody>
      </p:sp>
      <p:sp>
        <p:nvSpPr>
          <p:cNvPr id="10" name="Text 7"/>
          <p:cNvSpPr/>
          <p:nvPr/>
        </p:nvSpPr>
        <p:spPr>
          <a:xfrm>
            <a:off x="9530834" y="2044779"/>
            <a:ext cx="1362789" cy="496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950"/>
              </a:lnSpc>
              <a:buNone/>
            </a:pPr>
            <a:r>
              <a:rPr lang="en-US" sz="1550" b="1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2022 : Entraînement</a:t>
            </a:r>
            <a:endParaRPr lang="en-US" sz="1550"/>
          </a:p>
        </p:txBody>
      </p:sp>
      <p:sp>
        <p:nvSpPr>
          <p:cNvPr id="11" name="Text 8"/>
          <p:cNvSpPr/>
          <p:nvPr/>
        </p:nvSpPr>
        <p:spPr>
          <a:xfrm>
            <a:off x="9530834" y="2651879"/>
            <a:ext cx="1362789" cy="151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700"/>
              </a:lnSpc>
              <a:buNone/>
            </a:pPr>
            <a:r>
              <a:rPr lang="en-US" sz="125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Apprentissage des patterns et calibration initiale des hyperparamètres sur données historiques</a:t>
            </a:r>
            <a:endParaRPr lang="en-US" sz="1250"/>
          </a:p>
        </p:txBody>
      </p:sp>
      <p:sp>
        <p:nvSpPr>
          <p:cNvPr id="12" name="Shape 9"/>
          <p:cNvSpPr/>
          <p:nvPr/>
        </p:nvSpPr>
        <p:spPr>
          <a:xfrm>
            <a:off x="11843147" y="3014782"/>
            <a:ext cx="476250" cy="22860"/>
          </a:xfrm>
          <a:prstGeom prst="roundRect">
            <a:avLst>
              <a:gd name="adj" fmla="val 291721"/>
            </a:avLst>
          </a:prstGeom>
          <a:solidFill>
            <a:srgbClr val="D1C8C6"/>
          </a:solidFill>
          <a:ln/>
        </p:spPr>
      </p:sp>
      <p:sp>
        <p:nvSpPr>
          <p:cNvPr id="13" name="Shape 10"/>
          <p:cNvSpPr/>
          <p:nvPr/>
        </p:nvSpPr>
        <p:spPr>
          <a:xfrm>
            <a:off x="11508819" y="2847618"/>
            <a:ext cx="357188" cy="357188"/>
          </a:xfrm>
          <a:prstGeom prst="roundRect">
            <a:avLst>
              <a:gd name="adj" fmla="val 18670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568351" y="2877383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b="1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2</a:t>
            </a:r>
            <a:endParaRPr lang="en-US" sz="1850"/>
          </a:p>
        </p:txBody>
      </p:sp>
      <p:sp>
        <p:nvSpPr>
          <p:cNvPr id="15" name="Text 12"/>
          <p:cNvSpPr/>
          <p:nvPr/>
        </p:nvSpPr>
        <p:spPr>
          <a:xfrm>
            <a:off x="12481203" y="2902148"/>
            <a:ext cx="1362908" cy="496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2023 : Validation</a:t>
            </a:r>
            <a:endParaRPr lang="en-US" sz="1550"/>
          </a:p>
        </p:txBody>
      </p:sp>
      <p:sp>
        <p:nvSpPr>
          <p:cNvPr id="16" name="Text 13"/>
          <p:cNvSpPr/>
          <p:nvPr/>
        </p:nvSpPr>
        <p:spPr>
          <a:xfrm>
            <a:off x="12481203" y="3509248"/>
            <a:ext cx="1362908" cy="1295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Ajustement fin et sélection de modèles sur période de validation indépendante</a:t>
            </a:r>
            <a:endParaRPr lang="en-US" sz="1250"/>
          </a:p>
        </p:txBody>
      </p:sp>
      <p:sp>
        <p:nvSpPr>
          <p:cNvPr id="17" name="Shape 14"/>
          <p:cNvSpPr/>
          <p:nvPr/>
        </p:nvSpPr>
        <p:spPr>
          <a:xfrm>
            <a:off x="11055429" y="4553188"/>
            <a:ext cx="476250" cy="22860"/>
          </a:xfrm>
          <a:prstGeom prst="roundRect">
            <a:avLst>
              <a:gd name="adj" fmla="val 291721"/>
            </a:avLst>
          </a:prstGeom>
          <a:solidFill>
            <a:srgbClr val="D1C8C6"/>
          </a:solidFill>
          <a:ln/>
        </p:spPr>
      </p:sp>
      <p:sp>
        <p:nvSpPr>
          <p:cNvPr id="18" name="Shape 15"/>
          <p:cNvSpPr/>
          <p:nvPr/>
        </p:nvSpPr>
        <p:spPr>
          <a:xfrm>
            <a:off x="11508819" y="4386024"/>
            <a:ext cx="357188" cy="357188"/>
          </a:xfrm>
          <a:prstGeom prst="roundRect">
            <a:avLst>
              <a:gd name="adj" fmla="val 18670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568351" y="4415790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b="1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3</a:t>
            </a:r>
            <a:endParaRPr lang="en-US" sz="1850"/>
          </a:p>
        </p:txBody>
      </p:sp>
      <p:sp>
        <p:nvSpPr>
          <p:cNvPr id="20" name="Text 17"/>
          <p:cNvSpPr/>
          <p:nvPr/>
        </p:nvSpPr>
        <p:spPr>
          <a:xfrm>
            <a:off x="9530834" y="4440555"/>
            <a:ext cx="1362789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950"/>
              </a:lnSpc>
              <a:buNone/>
            </a:pPr>
            <a:r>
              <a:rPr lang="en-US" sz="1550" b="1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2024 : Test final</a:t>
            </a:r>
            <a:endParaRPr lang="en-US" sz="1550"/>
          </a:p>
        </p:txBody>
      </p:sp>
      <p:sp>
        <p:nvSpPr>
          <p:cNvPr id="21" name="Text 18"/>
          <p:cNvSpPr/>
          <p:nvPr/>
        </p:nvSpPr>
        <p:spPr>
          <a:xfrm>
            <a:off x="9530834" y="4799648"/>
            <a:ext cx="1362789" cy="1079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700"/>
              </a:lnSpc>
              <a:buNone/>
            </a:pPr>
            <a:r>
              <a:rPr lang="en-US" sz="125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Évaluation définitive sur données jamais vues, simulation réaliste du futur</a:t>
            </a:r>
            <a:endParaRPr lang="en-US" sz="1250"/>
          </a:p>
        </p:txBody>
      </p:sp>
      <p:sp>
        <p:nvSpPr>
          <p:cNvPr id="22" name="Shape 19"/>
          <p:cNvSpPr/>
          <p:nvPr/>
        </p:nvSpPr>
        <p:spPr>
          <a:xfrm>
            <a:off x="9530834" y="6236613"/>
            <a:ext cx="4313277" cy="977979"/>
          </a:xfrm>
          <a:prstGeom prst="roundRect">
            <a:avLst>
              <a:gd name="adj" fmla="val 6819"/>
            </a:avLst>
          </a:prstGeom>
          <a:solidFill>
            <a:srgbClr val="E1D4D0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9544" y="6463665"/>
            <a:ext cx="198358" cy="15871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0046613" y="6387346"/>
            <a:ext cx="3638788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00"/>
              </a:lnSpc>
            </a:pPr>
            <a:r>
              <a:rPr lang="en-US" sz="1250" b="1" dirty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Principe </a:t>
            </a:r>
            <a:r>
              <a:rPr lang="en-US" sz="1250" b="1" dirty="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fondamental</a:t>
            </a:r>
            <a:r>
              <a:rPr lang="en-US" sz="1250" b="1" dirty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:</a:t>
            </a:r>
            <a:r>
              <a:rPr lang="en-US" sz="1250" dirty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Aucun</a:t>
            </a:r>
            <a:r>
              <a:rPr lang="en-US" sz="1250" dirty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split </a:t>
            </a:r>
            <a:r>
              <a:rPr lang="en-US" sz="1250" dirty="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aléatoire</a:t>
            </a:r>
            <a:r>
              <a:rPr lang="en-US" sz="1250" dirty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. Le respect strict de </a:t>
            </a:r>
            <a:r>
              <a:rPr lang="en-US" sz="1250" dirty="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l'ordre</a:t>
            </a:r>
            <a:r>
              <a:rPr lang="en-US" sz="1250" dirty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temporel</a:t>
            </a:r>
            <a:r>
              <a:rPr lang="en-US" sz="1250" dirty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garantit</a:t>
            </a:r>
            <a:r>
              <a:rPr lang="en-US" sz="1250" dirty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une</a:t>
            </a:r>
            <a:r>
              <a:rPr lang="en-US" sz="1250" dirty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validation </a:t>
            </a:r>
            <a:r>
              <a:rPr lang="en-US" sz="1250" dirty="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réaliste</a:t>
            </a:r>
            <a:r>
              <a:rPr lang="en-US" sz="1250" dirty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des </a:t>
            </a:r>
            <a:r>
              <a:rPr lang="en-US" sz="1250" dirty="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capacités</a:t>
            </a:r>
            <a:r>
              <a:rPr lang="en-US" sz="1250" dirty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prédictives</a:t>
            </a:r>
            <a:r>
              <a:rPr lang="en-US" sz="1250" dirty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.</a:t>
            </a:r>
            <a:endParaRPr lang="en-US" sz="125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93790" y="208478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Feature Engineering</a:t>
            </a:r>
            <a:endParaRPr lang="en-US" sz="4450"/>
          </a:p>
        </p:txBody>
      </p:sp>
      <p:sp>
        <p:nvSpPr>
          <p:cNvPr id="5" name="Shape 3"/>
          <p:cNvSpPr/>
          <p:nvPr/>
        </p:nvSpPr>
        <p:spPr>
          <a:xfrm>
            <a:off x="793790" y="3133725"/>
            <a:ext cx="6407944" cy="2546985"/>
          </a:xfrm>
          <a:prstGeom prst="roundRect">
            <a:avLst>
              <a:gd name="adj" fmla="val 3740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8224" y="33681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/>
                <a:ea typeface="Crimson Pro Bold"/>
                <a:cs typeface="Crimson Pro Bold" pitchFamily="34" charset="-120"/>
              </a:rPr>
              <a:t>Court </a:t>
            </a:r>
            <a:r>
              <a:rPr lang="en-US" sz="2200" b="1" dirty="0" err="1">
                <a:solidFill>
                  <a:srgbClr val="443728"/>
                </a:solidFill>
                <a:latin typeface="Crimson Pro Bold"/>
                <a:ea typeface="Crimson Pro Bold"/>
                <a:cs typeface="Crimson Pro Bold" pitchFamily="34" charset="-120"/>
              </a:rPr>
              <a:t>terme</a:t>
            </a:r>
            <a:endParaRPr lang="en-US" sz="2200" dirty="0" err="1">
              <a:latin typeface="Crimson Pro Bold"/>
              <a:ea typeface="Crimson Pro Bold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28224" y="3858578"/>
            <a:ext cx="593907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Returns </a:t>
            </a:r>
            <a:r>
              <a:rPr lang="en-US" sz="1750" dirty="0" err="1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logarithmiques</a:t>
            </a:r>
            <a:r>
              <a:rPr lang="en-US" sz="175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, </a:t>
            </a:r>
            <a:r>
              <a:rPr lang="en-US" sz="1750" dirty="0" err="1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moyennes</a:t>
            </a:r>
            <a:r>
              <a:rPr lang="en-US" sz="175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 mobiles </a:t>
            </a:r>
            <a:r>
              <a:rPr lang="en-US" sz="1750" dirty="0" err="1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exponentielles</a:t>
            </a:r>
            <a:r>
              <a:rPr lang="en-US" sz="175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 (EMA 5/10/20), RSI 14, </a:t>
            </a:r>
            <a:r>
              <a:rPr lang="en-US" sz="1750" dirty="0" err="1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volatilité</a:t>
            </a:r>
            <a:r>
              <a:rPr lang="en-US" sz="175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 locale </a:t>
            </a:r>
            <a:r>
              <a:rPr lang="en-US" sz="1750" dirty="0" err="1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glissante</a:t>
            </a:r>
            <a:endParaRPr lang="en-US" sz="1750" dirty="0" err="1">
              <a:latin typeface="Open Sans"/>
              <a:ea typeface="Open Sans"/>
              <a:cs typeface="Open San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28224" y="5083373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Capture des microstructures et momentum intraday</a:t>
            </a:r>
            <a:endParaRPr lang="en-US" sz="1750"/>
          </a:p>
        </p:txBody>
      </p:sp>
      <p:sp>
        <p:nvSpPr>
          <p:cNvPr id="9" name="Shape 7"/>
          <p:cNvSpPr/>
          <p:nvPr/>
        </p:nvSpPr>
        <p:spPr>
          <a:xfrm>
            <a:off x="7428548" y="3133725"/>
            <a:ext cx="6408063" cy="2546985"/>
          </a:xfrm>
          <a:prstGeom prst="roundRect">
            <a:avLst>
              <a:gd name="adj" fmla="val 3740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62982" y="33681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b="1" dirty="0" err="1">
                <a:solidFill>
                  <a:srgbClr val="443728"/>
                </a:solidFill>
                <a:ea typeface="Crimson Pro Bold"/>
              </a:rPr>
              <a:t>Contexte</a:t>
            </a:r>
            <a:r>
              <a:rPr lang="en-US" sz="2200" b="1" dirty="0">
                <a:solidFill>
                  <a:srgbClr val="443728"/>
                </a:solidFill>
                <a:ea typeface="Crimson Pro Bold"/>
              </a:rPr>
              <a:t> et régime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662982" y="3858578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EMA 200, Average True Range (ATR), Average Directional Index (ADX), MACD</a:t>
            </a:r>
            <a:endParaRPr lang="en-US" sz="1750" dirty="0">
              <a:latin typeface="Open Sans"/>
              <a:ea typeface="Open Sans"/>
              <a:cs typeface="Open San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662982" y="4720471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Identification des régimes de marché (trending vs ranging)</a:t>
            </a:r>
            <a:endParaRPr lang="en-US" sz="1750"/>
          </a:p>
        </p:txBody>
      </p:sp>
      <p:sp>
        <p:nvSpPr>
          <p:cNvPr id="13" name="Text 11"/>
          <p:cNvSpPr/>
          <p:nvPr/>
        </p:nvSpPr>
        <p:spPr>
          <a:xfrm>
            <a:off x="793790" y="5935861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>
              <a:solidFill>
                <a:srgbClr val="443728"/>
              </a:solidFill>
              <a:latin typeface="Open Sans"/>
              <a:ea typeface="Open Sans"/>
              <a:cs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393508"/>
            <a:ext cx="2010489" cy="426244"/>
          </a:xfrm>
          <a:prstGeom prst="roundRect">
            <a:avLst>
              <a:gd name="adj" fmla="val 17880"/>
            </a:avLst>
          </a:prstGeom>
          <a:solidFill>
            <a:srgbClr val="EBE2E0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461492"/>
            <a:ext cx="173831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MACHINE LEARNING</a:t>
            </a:r>
            <a:endParaRPr lang="en-US" sz="1400"/>
          </a:p>
        </p:txBody>
      </p:sp>
      <p:sp>
        <p:nvSpPr>
          <p:cNvPr id="4" name="Text 2"/>
          <p:cNvSpPr/>
          <p:nvPr/>
        </p:nvSpPr>
        <p:spPr>
          <a:xfrm>
            <a:off x="793790" y="1910477"/>
            <a:ext cx="587573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Apprentissage Supervisé</a:t>
            </a:r>
            <a:endParaRPr lang="en-US" sz="4450"/>
          </a:p>
        </p:txBody>
      </p:sp>
      <p:sp>
        <p:nvSpPr>
          <p:cNvPr id="5" name="Text 3"/>
          <p:cNvSpPr/>
          <p:nvPr/>
        </p:nvSpPr>
        <p:spPr>
          <a:xfrm>
            <a:off x="793790" y="2709982"/>
            <a:ext cx="353996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b="1" dirty="0" err="1">
                <a:solidFill>
                  <a:srgbClr val="443728"/>
                </a:solidFill>
                <a:latin typeface="Crimson Pro Bold"/>
                <a:ea typeface="Crimson Pro Bold"/>
                <a:cs typeface="Crimson Pro Bold" pitchFamily="34" charset="-120"/>
              </a:rPr>
              <a:t>Prédiction</a:t>
            </a:r>
            <a:r>
              <a:rPr lang="en-US" sz="2200" b="1" dirty="0">
                <a:solidFill>
                  <a:srgbClr val="443728"/>
                </a:solidFill>
                <a:latin typeface="Crimson Pro Bold"/>
                <a:ea typeface="Crimson Pro Bold"/>
                <a:cs typeface="Crimson Pro Bold" pitchFamily="34" charset="-120"/>
              </a:rPr>
              <a:t> du </a:t>
            </a:r>
            <a:r>
              <a:rPr lang="en-US" sz="2200" b="1" dirty="0" err="1">
                <a:solidFill>
                  <a:srgbClr val="443728"/>
                </a:solidFill>
                <a:latin typeface="Crimson Pro Bold"/>
                <a:ea typeface="Crimson Pro Bold"/>
                <a:cs typeface="Crimson Pro Bold" pitchFamily="34" charset="-120"/>
              </a:rPr>
              <a:t>sens</a:t>
            </a:r>
            <a:r>
              <a:rPr lang="en-US" sz="2200" b="1" dirty="0">
                <a:solidFill>
                  <a:srgbClr val="443728"/>
                </a:solidFill>
                <a:latin typeface="Crimson Pro Bold"/>
                <a:ea typeface="Crimson Pro Bold"/>
                <a:cs typeface="Crimson Pro Bold" pitchFamily="34" charset="-120"/>
              </a:rPr>
              <a:t> de la </a:t>
            </a:r>
            <a:r>
              <a:rPr lang="en-US" sz="2200" b="1" dirty="0" err="1">
                <a:solidFill>
                  <a:srgbClr val="443728"/>
                </a:solidFill>
                <a:latin typeface="Crimson Pro Bold"/>
                <a:ea typeface="Crimson Pro Bold"/>
                <a:cs typeface="Crimson Pro Bold" pitchFamily="34" charset="-120"/>
              </a:rPr>
              <a:t>prochaine</a:t>
            </a:r>
            <a:r>
              <a:rPr lang="en-US" sz="2200" b="1" dirty="0">
                <a:solidFill>
                  <a:srgbClr val="443728"/>
                </a:solidFill>
                <a:latin typeface="Crimson Pro Bold"/>
                <a:ea typeface="Crimson Pro Bold"/>
                <a:cs typeface="Crimson Pro Bold" pitchFamily="34" charset="-120"/>
              </a:rPr>
              <a:t> </a:t>
            </a: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/>
                <a:cs typeface="Crimson Pro Bold" pitchFamily="34" charset="-120"/>
              </a:rPr>
              <a:t>bougie</a:t>
            </a:r>
            <a:endParaRPr lang="en-US" sz="2200" b="1" dirty="0">
              <a:solidFill>
                <a:srgbClr val="443728"/>
              </a:solidFill>
              <a:latin typeface="Crimson Pro Bold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340447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Classification à trois classes (</a:t>
            </a:r>
            <a:r>
              <a:rPr lang="en-US" sz="1750" dirty="0" err="1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hausse</a:t>
            </a:r>
            <a:r>
              <a:rPr lang="en-US" sz="175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, </a:t>
            </a:r>
            <a:r>
              <a:rPr lang="en-US" sz="1750" dirty="0" err="1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baisse</a:t>
            </a:r>
            <a:r>
              <a:rPr lang="en-US" sz="175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, </a:t>
            </a:r>
            <a:r>
              <a:rPr lang="en-US" sz="1750" dirty="0" err="1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neutre</a:t>
            </a:r>
            <a:r>
              <a:rPr lang="en-US" sz="175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) </a:t>
            </a:r>
          </a:p>
        </p:txBody>
      </p:sp>
      <p:sp>
        <p:nvSpPr>
          <p:cNvPr id="7" name="Shape 5"/>
          <p:cNvSpPr/>
          <p:nvPr/>
        </p:nvSpPr>
        <p:spPr>
          <a:xfrm>
            <a:off x="868946" y="4911875"/>
            <a:ext cx="4196358" cy="1685092"/>
          </a:xfrm>
          <a:prstGeom prst="roundRect">
            <a:avLst>
              <a:gd name="adj" fmla="val 5654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49507" y="51463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Régression Logistique</a:t>
            </a:r>
            <a:endParaRPr lang="en-US" sz="2200"/>
          </a:p>
        </p:txBody>
      </p:sp>
      <p:sp>
        <p:nvSpPr>
          <p:cNvPr id="9" name="Text 7"/>
          <p:cNvSpPr/>
          <p:nvPr/>
        </p:nvSpPr>
        <p:spPr>
          <a:xfrm>
            <a:off x="1103380" y="5636727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Baseline linéaire interprétable</a:t>
            </a:r>
            <a:endParaRPr lang="en-US" sz="1750"/>
          </a:p>
        </p:txBody>
      </p:sp>
      <p:sp>
        <p:nvSpPr>
          <p:cNvPr id="10" name="Shape 8"/>
          <p:cNvSpPr/>
          <p:nvPr/>
        </p:nvSpPr>
        <p:spPr>
          <a:xfrm>
            <a:off x="5292118" y="4911875"/>
            <a:ext cx="4196358" cy="1685092"/>
          </a:xfrm>
          <a:prstGeom prst="roundRect">
            <a:avLst>
              <a:gd name="adj" fmla="val 5654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72679" y="51463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Random Forest</a:t>
            </a:r>
            <a:endParaRPr lang="en-US" sz="2200"/>
          </a:p>
        </p:txBody>
      </p:sp>
      <p:sp>
        <p:nvSpPr>
          <p:cNvPr id="12" name="Text 10"/>
          <p:cNvSpPr/>
          <p:nvPr/>
        </p:nvSpPr>
        <p:spPr>
          <a:xfrm>
            <a:off x="5526552" y="5636727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Ensemble non-linéaire robuste</a:t>
            </a:r>
            <a:endParaRPr lang="en-US" sz="1750"/>
          </a:p>
        </p:txBody>
      </p:sp>
      <p:sp>
        <p:nvSpPr>
          <p:cNvPr id="16" name="Text 14"/>
          <p:cNvSpPr/>
          <p:nvPr/>
        </p:nvSpPr>
        <p:spPr>
          <a:xfrm>
            <a:off x="1209107" y="7107268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BFEBF46C-1809-37B8-7C57-1CFB9FA3E041}"/>
              </a:ext>
            </a:extLst>
          </p:cNvPr>
          <p:cNvSpPr/>
          <p:nvPr/>
        </p:nvSpPr>
        <p:spPr>
          <a:xfrm>
            <a:off x="931576" y="4275735"/>
            <a:ext cx="353996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b="1" dirty="0" err="1">
                <a:solidFill>
                  <a:srgbClr val="443728"/>
                </a:solidFill>
                <a:latin typeface="Crimson Pro Bold"/>
              </a:rPr>
              <a:t>Modèles</a:t>
            </a:r>
            <a:r>
              <a:rPr lang="en-US" sz="2200" b="1" dirty="0">
                <a:solidFill>
                  <a:srgbClr val="443728"/>
                </a:solidFill>
                <a:latin typeface="Crimson Pro Bold"/>
              </a:rPr>
              <a:t> </a:t>
            </a:r>
            <a:r>
              <a:rPr lang="en-US" sz="2200" b="1" dirty="0" err="1">
                <a:solidFill>
                  <a:srgbClr val="443728"/>
                </a:solidFill>
                <a:latin typeface="Crimson Pro Bold"/>
              </a:rPr>
              <a:t>testés</a:t>
            </a:r>
            <a:endParaRPr lang="en-US" dirty="0" err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382" y="604480"/>
            <a:ext cx="2319814" cy="355521"/>
          </a:xfrm>
          <a:prstGeom prst="roundRect">
            <a:avLst>
              <a:gd name="adj" fmla="val 18700"/>
            </a:avLst>
          </a:prstGeom>
          <a:solidFill>
            <a:srgbClr val="EBE2E0"/>
          </a:solidFill>
          <a:ln/>
        </p:spPr>
      </p:sp>
      <p:sp>
        <p:nvSpPr>
          <p:cNvPr id="3" name="Text 1"/>
          <p:cNvSpPr/>
          <p:nvPr/>
        </p:nvSpPr>
        <p:spPr>
          <a:xfrm>
            <a:off x="888087" y="663773"/>
            <a:ext cx="2082403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0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REINFORCEMENT LEARNING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769382" y="1028938"/>
            <a:ext cx="4946571" cy="618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b="1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Approche Séquentielle</a:t>
            </a:r>
            <a:endParaRPr lang="en-US" sz="385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6458" y="2100143"/>
            <a:ext cx="7506414" cy="42536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0248" y="3253859"/>
            <a:ext cx="3253383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Architecture RL pour le trading</a:t>
            </a:r>
            <a:endParaRPr lang="en-US" sz="1900"/>
          </a:p>
        </p:txBody>
      </p:sp>
      <p:sp>
        <p:nvSpPr>
          <p:cNvPr id="7" name="Text 4"/>
          <p:cNvSpPr/>
          <p:nvPr/>
        </p:nvSpPr>
        <p:spPr>
          <a:xfrm>
            <a:off x="9600248" y="3735467"/>
            <a:ext cx="4268272" cy="1481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1550" dirty="0" err="1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L'approche</a:t>
            </a:r>
            <a:r>
              <a:rPr lang="en-US" sz="155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550" dirty="0" err="1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séquentielle</a:t>
            </a:r>
            <a:r>
              <a:rPr lang="en-US" sz="155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 capture les </a:t>
            </a:r>
            <a:r>
              <a:rPr lang="en-US" sz="1550" dirty="0" err="1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dépendances</a:t>
            </a:r>
            <a:r>
              <a:rPr lang="en-US" sz="155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550" dirty="0" err="1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temporelles</a:t>
            </a:r>
            <a:r>
              <a:rPr lang="en-US" sz="155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 et est </a:t>
            </a:r>
            <a:r>
              <a:rPr lang="en-US" sz="1550" dirty="0" err="1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optimisé</a:t>
            </a:r>
            <a:r>
              <a:rPr lang="en-US" sz="155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 sur le long </a:t>
            </a:r>
            <a:r>
              <a:rPr lang="en-US" sz="1550" dirty="0" err="1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terme</a:t>
            </a:r>
            <a:r>
              <a:rPr lang="en-US" sz="155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, </a:t>
            </a:r>
            <a:r>
              <a:rPr lang="en-US" sz="1550" dirty="0" err="1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contrairement</a:t>
            </a:r>
            <a:r>
              <a:rPr lang="en-US" sz="155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 au ML </a:t>
            </a:r>
            <a:r>
              <a:rPr lang="en-US" sz="1550" dirty="0" err="1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supervisé</a:t>
            </a:r>
            <a:r>
              <a:rPr lang="en-US" sz="155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 qui </a:t>
            </a:r>
            <a:r>
              <a:rPr lang="en-US" sz="1550" dirty="0" err="1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prédit</a:t>
            </a:r>
            <a:r>
              <a:rPr lang="en-US" sz="155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 point par point.</a:t>
            </a:r>
            <a:endParaRPr lang="en-US" sz="1550" dirty="0">
              <a:latin typeface="Open Sans"/>
              <a:ea typeface="Open Sans"/>
              <a:cs typeface="Open San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46522" y="6719054"/>
            <a:ext cx="45720" cy="934760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9" name="Text 6"/>
          <p:cNvSpPr/>
          <p:nvPr/>
        </p:nvSpPr>
        <p:spPr>
          <a:xfrm>
            <a:off x="1012865" y="6741914"/>
            <a:ext cx="3976568" cy="88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1550" b="1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State :</a:t>
            </a:r>
            <a:r>
              <a:rPr lang="en-US" sz="155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 Features </a:t>
            </a:r>
            <a:r>
              <a:rPr lang="en-US" sz="1550" dirty="0" err="1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normalisées</a:t>
            </a:r>
            <a:r>
              <a:rPr lang="en-US" sz="155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550" dirty="0" err="1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incluant</a:t>
            </a:r>
            <a:r>
              <a:rPr lang="en-US" sz="155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550" dirty="0" err="1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indicateurs</a:t>
            </a:r>
            <a:r>
              <a:rPr lang="en-US" sz="155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 techniques et position courante</a:t>
            </a:r>
            <a:endParaRPr lang="en-US" sz="1550" dirty="0">
              <a:latin typeface="Open Sans"/>
              <a:ea typeface="Open Sans"/>
              <a:cs typeface="Open San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182314" y="6719054"/>
            <a:ext cx="45720" cy="934760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11" name="Text 8"/>
          <p:cNvSpPr/>
          <p:nvPr/>
        </p:nvSpPr>
        <p:spPr>
          <a:xfrm>
            <a:off x="5448657" y="6741914"/>
            <a:ext cx="3976568" cy="88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Action :</a:t>
            </a:r>
            <a:r>
              <a:rPr lang="en-US" sz="155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550" dirty="0" err="1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Décision</a:t>
            </a:r>
            <a:r>
              <a:rPr lang="en-US" sz="155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 {BUY, SELL, HOLD}</a:t>
            </a:r>
          </a:p>
        </p:txBody>
      </p:sp>
      <p:sp>
        <p:nvSpPr>
          <p:cNvPr id="12" name="Shape 9"/>
          <p:cNvSpPr/>
          <p:nvPr/>
        </p:nvSpPr>
        <p:spPr>
          <a:xfrm>
            <a:off x="9618107" y="6719054"/>
            <a:ext cx="45720" cy="934760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13" name="Text 10"/>
          <p:cNvSpPr/>
          <p:nvPr/>
        </p:nvSpPr>
        <p:spPr>
          <a:xfrm>
            <a:off x="9884450" y="6741914"/>
            <a:ext cx="3976568" cy="592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b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Reward :</a:t>
            </a:r>
            <a:r>
              <a:rPr lang="en-US" sz="155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PnL ajusté au risque intégrant pénalités de transaction et volatilité</a:t>
            </a:r>
            <a:endParaRPr lang="en-US" sz="1550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40144268-2345-9B90-1271-F63EE4FE6EF7}"/>
              </a:ext>
            </a:extLst>
          </p:cNvPr>
          <p:cNvSpPr/>
          <p:nvPr/>
        </p:nvSpPr>
        <p:spPr>
          <a:xfrm>
            <a:off x="6556407" y="1028937"/>
            <a:ext cx="5184565" cy="618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850"/>
              </a:lnSpc>
            </a:pPr>
            <a:r>
              <a:rPr lang="en-US" sz="2400" dirty="0">
                <a:solidFill>
                  <a:srgbClr val="443728"/>
                </a:solidFill>
                <a:ea typeface="+mn-lt"/>
                <a:cs typeface="+mn-lt"/>
              </a:rPr>
              <a:t>Passage d’un </a:t>
            </a:r>
            <a:r>
              <a:rPr lang="en-US" sz="2400" err="1">
                <a:solidFill>
                  <a:srgbClr val="443728"/>
                </a:solidFill>
                <a:ea typeface="+mn-lt"/>
                <a:cs typeface="+mn-lt"/>
              </a:rPr>
              <a:t>modèle</a:t>
            </a:r>
            <a:r>
              <a:rPr lang="en-US" sz="2400" dirty="0">
                <a:solidFill>
                  <a:srgbClr val="443728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443728"/>
                </a:solidFill>
                <a:ea typeface="+mn-lt"/>
                <a:cs typeface="+mn-lt"/>
              </a:rPr>
              <a:t>prédictif</a:t>
            </a:r>
            <a:r>
              <a:rPr lang="en-US" sz="2400" dirty="0">
                <a:solidFill>
                  <a:srgbClr val="443728"/>
                </a:solidFill>
                <a:ea typeface="+mn-lt"/>
                <a:cs typeface="+mn-lt"/>
              </a:rPr>
              <a:t> à un agent </a:t>
            </a:r>
            <a:r>
              <a:rPr lang="en-US" sz="2400" err="1">
                <a:solidFill>
                  <a:srgbClr val="443728"/>
                </a:solidFill>
                <a:ea typeface="+mn-lt"/>
                <a:cs typeface="+mn-lt"/>
              </a:rPr>
              <a:t>décisionnel</a:t>
            </a:r>
            <a:r>
              <a:rPr lang="en-US" sz="2400" dirty="0">
                <a:solidFill>
                  <a:srgbClr val="443728"/>
                </a:solidFill>
                <a:ea typeface="+mn-lt"/>
                <a:cs typeface="+mn-lt"/>
              </a:rPr>
              <a:t>.</a:t>
            </a:r>
            <a:endParaRPr lang="en-US" sz="24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93790" y="1276588"/>
            <a:ext cx="578667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/>
                <a:ea typeface="Crimson Pro Bold"/>
                <a:cs typeface="Crimson Pro Bold" pitchFamily="34" charset="-120"/>
              </a:rPr>
              <a:t>Conception RL</a:t>
            </a:r>
            <a:endParaRPr lang="en-US" sz="4450" b="1" dirty="0">
              <a:solidFill>
                <a:srgbClr val="443728"/>
              </a:solidFill>
              <a:latin typeface="Calibri"/>
              <a:ea typeface="Crimson Pro Bold"/>
              <a:cs typeface="Calibri"/>
            </a:endParaRP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DDD50BFA-6DB0-D10C-1747-BD04BCF7FF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6049157"/>
              </p:ext>
            </p:extLst>
          </p:nvPr>
        </p:nvGraphicFramePr>
        <p:xfrm>
          <a:off x="1678488" y="2654892"/>
          <a:ext cx="11704320" cy="4023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575538958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643805486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646384446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19990093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effectLst/>
                        </a:rPr>
                        <a:t>Algorithme</a:t>
                      </a:r>
                      <a:endParaRPr lang="en-US" dirty="0" err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effectLst/>
                        </a:rPr>
                        <a:t>Avantages</a:t>
                      </a:r>
                      <a:endParaRPr lang="en-US" dirty="0" err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effectLst/>
                        </a:rPr>
                        <a:t>Inconvénients</a:t>
                      </a:r>
                      <a:endParaRPr lang="en-US" dirty="0" err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effectLst/>
                        </a:rPr>
                        <a:t>Pourquoi</a:t>
                      </a:r>
                      <a:r>
                        <a:rPr lang="en-US" dirty="0">
                          <a:effectLst/>
                        </a:rPr>
                        <a:t> pas </a:t>
                      </a:r>
                      <a:r>
                        <a:rPr lang="en-US" dirty="0" err="1">
                          <a:effectLst/>
                        </a:rPr>
                        <a:t>lui</a:t>
                      </a:r>
                      <a:r>
                        <a:rPr lang="en-US" dirty="0">
                          <a:effectLst/>
                        </a:rPr>
                        <a:t> ?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2926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DQN (Deep Q-Network)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Simple à </a:t>
                      </a:r>
                      <a:r>
                        <a:rPr lang="en-US" dirty="0" err="1">
                          <a:effectLst/>
                        </a:rPr>
                        <a:t>implémenter</a:t>
                      </a:r>
                      <a:r>
                        <a:rPr lang="en-US" dirty="0">
                          <a:effectLst/>
                        </a:rPr>
                        <a:t>.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Très instable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Trop sensible aux variations de prix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2921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A2C (Advantage Actor-Critic)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>
                          <a:effectLst/>
                        </a:rPr>
                        <a:t>Rapide</a:t>
                      </a:r>
                      <a:r>
                        <a:rPr lang="en-US" dirty="0">
                          <a:effectLst/>
                        </a:rPr>
                        <a:t> et </a:t>
                      </a:r>
                      <a:r>
                        <a:rPr lang="en-US" err="1">
                          <a:effectLst/>
                        </a:rPr>
                        <a:t>efficace</a:t>
                      </a:r>
                      <a:r>
                        <a:rPr lang="en-US" dirty="0">
                          <a:effectLst/>
                        </a:rPr>
                        <a:t> pour les </a:t>
                      </a:r>
                      <a:r>
                        <a:rPr lang="en-US" err="1">
                          <a:effectLst/>
                        </a:rPr>
                        <a:t>calculs</a:t>
                      </a:r>
                      <a:r>
                        <a:rPr lang="en-US" dirty="0">
                          <a:effectLst/>
                        </a:rPr>
                        <a:t>.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Les mises à jour de la </a:t>
                      </a:r>
                      <a:r>
                        <a:rPr lang="en-US" err="1">
                          <a:effectLst/>
                        </a:rPr>
                        <a:t>stratégie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r>
                        <a:rPr lang="en-US" err="1">
                          <a:effectLst/>
                        </a:rPr>
                        <a:t>peuvent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r>
                        <a:rPr lang="en-US" err="1">
                          <a:effectLst/>
                        </a:rPr>
                        <a:t>être</a:t>
                      </a:r>
                      <a:r>
                        <a:rPr lang="en-US" dirty="0">
                          <a:effectLst/>
                        </a:rPr>
                        <a:t> trop </a:t>
                      </a:r>
                      <a:r>
                        <a:rPr lang="en-US" err="1">
                          <a:effectLst/>
                        </a:rPr>
                        <a:t>brutales</a:t>
                      </a:r>
                      <a:r>
                        <a:rPr lang="en-US" dirty="0">
                          <a:effectLst/>
                        </a:rPr>
                        <a:t>.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Risque de </a:t>
                      </a:r>
                      <a:r>
                        <a:rPr lang="en-US" err="1">
                          <a:effectLst/>
                        </a:rPr>
                        <a:t>perte</a:t>
                      </a:r>
                      <a:r>
                        <a:rPr lang="en-US" dirty="0">
                          <a:effectLst/>
                        </a:rPr>
                        <a:t> de performance </a:t>
                      </a:r>
                      <a:r>
                        <a:rPr lang="en-US" err="1">
                          <a:effectLst/>
                        </a:rPr>
                        <a:t>soudaine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r>
                        <a:rPr lang="en-US" err="1">
                          <a:effectLst/>
                        </a:rPr>
                        <a:t>si</a:t>
                      </a:r>
                      <a:r>
                        <a:rPr lang="en-US" dirty="0">
                          <a:effectLst/>
                        </a:rPr>
                        <a:t> un trade se passe mal </a:t>
                      </a:r>
                      <a:r>
                        <a:rPr lang="en-US" err="1">
                          <a:effectLst/>
                        </a:rPr>
                        <a:t>durant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r>
                        <a:rPr lang="en-US" err="1">
                          <a:effectLst/>
                        </a:rPr>
                        <a:t>l'apprentissage</a:t>
                      </a:r>
                      <a:r>
                        <a:rPr lang="en-US" dirty="0">
                          <a:effectLst/>
                        </a:rPr>
                        <a:t>.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2186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SAC (Soft Actor-Critic)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Bonne </a:t>
                      </a:r>
                      <a:r>
                        <a:rPr lang="en-US" dirty="0" err="1">
                          <a:effectLst/>
                        </a:rPr>
                        <a:t>stratégie</a:t>
                      </a:r>
                      <a:r>
                        <a:rPr lang="en-US" dirty="0">
                          <a:effectLst/>
                        </a:rPr>
                        <a:t> pour </a:t>
                      </a:r>
                      <a:r>
                        <a:rPr lang="en-US" dirty="0" err="1">
                          <a:effectLst/>
                        </a:rPr>
                        <a:t>l'exploration</a:t>
                      </a:r>
                      <a:r>
                        <a:rPr lang="en-US" dirty="0">
                          <a:effectLst/>
                        </a:rPr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Très </a:t>
                      </a:r>
                      <a:r>
                        <a:rPr lang="en-US" dirty="0" err="1">
                          <a:effectLst/>
                        </a:rPr>
                        <a:t>complexe</a:t>
                      </a:r>
                      <a:r>
                        <a:rPr lang="en-US" dirty="0">
                          <a:effectLst/>
                        </a:rPr>
                        <a:t> à </a:t>
                      </a:r>
                      <a:r>
                        <a:rPr lang="en-US" dirty="0" err="1">
                          <a:effectLst/>
                        </a:rPr>
                        <a:t>paramétrer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Pas </a:t>
                      </a:r>
                      <a:r>
                        <a:rPr lang="en-US" dirty="0" err="1">
                          <a:effectLst/>
                        </a:rPr>
                        <a:t>adapté</a:t>
                      </a:r>
                      <a:r>
                        <a:rPr lang="en-US" dirty="0">
                          <a:effectLst/>
                        </a:rPr>
                        <a:t> pour </a:t>
                      </a:r>
                      <a:r>
                        <a:rPr lang="en-US" dirty="0" err="1">
                          <a:effectLst/>
                        </a:rPr>
                        <a:t>une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r>
                        <a:rPr lang="en-US" dirty="0" err="1">
                          <a:effectLst/>
                        </a:rPr>
                        <a:t>décision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r>
                        <a:rPr lang="en-US" dirty="0" err="1">
                          <a:effectLst/>
                        </a:rPr>
                        <a:t>binaire</a:t>
                      </a:r>
                      <a:r>
                        <a:rPr lang="en-US" dirty="0">
                          <a:effectLst/>
                        </a:rPr>
                        <a:t> (</a:t>
                      </a:r>
                      <a:r>
                        <a:rPr lang="en-US" dirty="0" err="1">
                          <a:effectLst/>
                        </a:rPr>
                        <a:t>Achat</a:t>
                      </a:r>
                      <a:r>
                        <a:rPr lang="en-US" dirty="0">
                          <a:effectLst/>
                        </a:rPr>
                        <a:t>/Vente) sur du M15.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6706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PPO (Proximal Policy Optimization)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Stable, </a:t>
                      </a:r>
                      <a:r>
                        <a:rPr lang="en-US" err="1">
                          <a:effectLst/>
                        </a:rPr>
                        <a:t>robuste</a:t>
                      </a:r>
                      <a:r>
                        <a:rPr lang="en-US" dirty="0">
                          <a:effectLst/>
                        </a:rPr>
                        <a:t> et </a:t>
                      </a:r>
                      <a:r>
                        <a:rPr lang="en-US" err="1">
                          <a:effectLst/>
                        </a:rPr>
                        <a:t>empêche</a:t>
                      </a:r>
                      <a:r>
                        <a:rPr lang="en-US" dirty="0">
                          <a:effectLst/>
                        </a:rPr>
                        <a:t> les </a:t>
                      </a:r>
                      <a:r>
                        <a:rPr lang="en-US" err="1">
                          <a:effectLst/>
                        </a:rPr>
                        <a:t>changements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r>
                        <a:rPr lang="en-US" err="1">
                          <a:effectLst/>
                        </a:rPr>
                        <a:t>radicaux</a:t>
                      </a:r>
                      <a:r>
                        <a:rPr lang="en-US" dirty="0">
                          <a:effectLst/>
                        </a:rPr>
                        <a:t>.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effectLst/>
                        </a:rPr>
                        <a:t>Légèrement</a:t>
                      </a:r>
                      <a:r>
                        <a:rPr lang="en-US" dirty="0">
                          <a:effectLst/>
                        </a:rPr>
                        <a:t> plus lent à </a:t>
                      </a:r>
                      <a:r>
                        <a:rPr lang="en-US" dirty="0" err="1">
                          <a:effectLst/>
                        </a:rPr>
                        <a:t>apprendre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r>
                        <a:rPr lang="en-US" dirty="0" err="1">
                          <a:effectLst/>
                        </a:rPr>
                        <a:t>que</a:t>
                      </a:r>
                      <a:r>
                        <a:rPr lang="en-US" dirty="0">
                          <a:effectLst/>
                        </a:rPr>
                        <a:t> le A2C.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CHOISI : Le </a:t>
                      </a:r>
                      <a:r>
                        <a:rPr lang="en-US" dirty="0" err="1">
                          <a:effectLst/>
                        </a:rPr>
                        <a:t>meilleur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r>
                        <a:rPr lang="en-US" dirty="0" err="1">
                          <a:effectLst/>
                        </a:rPr>
                        <a:t>équilibre</a:t>
                      </a:r>
                      <a:r>
                        <a:rPr lang="en-US" dirty="0">
                          <a:effectLst/>
                        </a:rPr>
                        <a:t> entre </a:t>
                      </a:r>
                      <a:r>
                        <a:rPr lang="en-US" dirty="0" err="1">
                          <a:effectLst/>
                        </a:rPr>
                        <a:t>sécurité</a:t>
                      </a:r>
                      <a:r>
                        <a:rPr lang="en-US" dirty="0">
                          <a:effectLst/>
                        </a:rPr>
                        <a:t> et performance.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649374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9</Slides>
  <Notes>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revision>128</cp:revision>
  <dcterms:created xsi:type="dcterms:W3CDTF">2026-02-12T13:58:47Z</dcterms:created>
  <dcterms:modified xsi:type="dcterms:W3CDTF">2026-02-13T10:46:00Z</dcterms:modified>
</cp:coreProperties>
</file>